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46720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08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PADRE CONCEICAO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8D8"/>
                </a:solidFill>
                <a:latin typeface="Calibri"/>
              </a:rPr>
              <a:t>CE634 · Data Mining and Data Warehousing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24128"/>
            <a:ext cx="7498079" cy="1905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0F4FF"/>
                </a:solidFill>
                <a:latin typeface="Calibri"/>
              </a:rPr>
              <a:t>Predictive Analysis 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EV Charging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8716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8BFF"/>
                </a:solidFill>
                <a:latin typeface="Calibri"/>
              </a:rPr>
              <a:t>&amp; Grid Load 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9184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8B8D8"/>
                </a:solidFill>
                <a:latin typeface="Calibri"/>
              </a:rPr>
              <a:t>Peak Load Risk Classification · Operational Clustering · Anomaly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7498079" cy="19050"/>
          </a:xfrm>
          <a:prstGeom prst="rect">
            <a:avLst/>
          </a:prstGeom>
          <a:solidFill>
            <a:srgbClr val="00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319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Dewpearl Gonsalves  ·  23CE114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245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Shail Joshi  ·  23CE163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171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Flyson Dias  ·  23CE118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95604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B8D8"/>
                </a:solidFill>
                <a:latin typeface="Calibri"/>
              </a:rPr>
              <a:t>Academic Year 2025–2026  |  May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AT A GLANCE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115568"/>
            <a:ext cx="3566160" cy="704088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1704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BFF"/>
                </a:solidFill>
                <a:latin typeface="Calibri"/>
              </a:rPr>
              <a:t>2,800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1316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Charging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883664"/>
            <a:ext cx="3566160" cy="704088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9385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BFF"/>
                </a:solidFill>
                <a:latin typeface="Calibr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0848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Dataset Attributes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2651760"/>
            <a:ext cx="3566160" cy="704088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27066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BFF"/>
                </a:solidFill>
                <a:latin typeface="Calibr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8529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Missing Values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419856"/>
            <a:ext cx="3566160" cy="704088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474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BFF"/>
                </a:solidFill>
                <a:latin typeface="Calibri"/>
              </a:rPr>
              <a:t>45.18%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36210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RF Accuracy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4187952"/>
            <a:ext cx="3566160" cy="704088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2428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BFF"/>
                </a:solidFill>
                <a:latin typeface="Calibri"/>
              </a:rPr>
              <a:t>84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43891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Anomalies Flagged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4956048"/>
            <a:ext cx="3566160" cy="704088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50109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B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51572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Operational Clusters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B8D8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11704320" cy="1905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" y="1371600"/>
            <a:ext cx="5669280" cy="1078992"/>
          </a:xfrm>
          <a:prstGeom prst="roundRect">
            <a:avLst>
              <a:gd name="adj" fmla="val 8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48132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B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630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Dataset &amp;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4708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2,800 EV records · 10 features · peak load risk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2606040"/>
            <a:ext cx="5669280" cy="1078992"/>
          </a:xfrm>
          <a:prstGeom prst="roundRect">
            <a:avLst>
              <a:gd name="adj" fmla="val 8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71576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B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Preprocessing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8152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Cleaning · Engineering · Encoding · Scaling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" y="3840480"/>
            <a:ext cx="5669280" cy="1078992"/>
          </a:xfrm>
          <a:prstGeom prst="roundRect">
            <a:avLst>
              <a:gd name="adj" fmla="val 8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95020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B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319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Similarity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1596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Pearson correlation · Euclidean distance across city zones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5074920"/>
            <a:ext cx="5669280" cy="1078992"/>
          </a:xfrm>
          <a:prstGeom prst="roundRect">
            <a:avLst>
              <a:gd name="adj" fmla="val 8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51846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B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16636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Classification (RF)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55040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Random Forest · SMOTE · 45.18% accuracy · 3-class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371600"/>
            <a:ext cx="5669280" cy="1078992"/>
          </a:xfrm>
          <a:prstGeom prst="roundRect">
            <a:avLst>
              <a:gd name="adj" fmla="val 8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148132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9B1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4630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Feature Importance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184708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Top predictors of grid stress events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606040"/>
            <a:ext cx="5669280" cy="1078992"/>
          </a:xfrm>
          <a:prstGeom prst="roundRect">
            <a:avLst>
              <a:gd name="adj" fmla="val 8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271576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9B1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6974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Clustering &amp; Anomalies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08152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K-Means (k=3) · Isolation Forest (84 flagged events)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840480"/>
            <a:ext cx="5669280" cy="1078992"/>
          </a:xfrm>
          <a:prstGeom prst="roundRect">
            <a:avLst>
              <a:gd name="adj" fmla="val 8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395020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9B1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9319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Dashboard &amp; Conclusions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31596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Executive summary · Findings · Future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B8D8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1463040" cy="256032"/>
          </a:xfrm>
          <a:prstGeom prst="roundRect">
            <a:avLst>
              <a:gd name="adj" fmla="val 40000"/>
            </a:avLst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08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01 ·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12064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Dataset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52144"/>
            <a:ext cx="11704320" cy="1905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325880"/>
            <a:ext cx="2606040" cy="146304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325880"/>
            <a:ext cx="260604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8BFF"/>
                </a:solidFill>
                <a:latin typeface="Calibri"/>
              </a:rPr>
              <a:t>2,800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488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8D8"/>
                </a:solidFill>
                <a:latin typeface="Calibri"/>
              </a:rPr>
              <a:t>Charging
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325880"/>
            <a:ext cx="2606040" cy="146304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1325880"/>
            <a:ext cx="260604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1463040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C9B1"/>
                </a:solidFill>
                <a:latin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1488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8D8"/>
                </a:solidFill>
                <a:latin typeface="Calibri"/>
              </a:rPr>
              <a:t>Dataset
Attributes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1325880"/>
            <a:ext cx="2606040" cy="146304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06440" y="1325880"/>
            <a:ext cx="260604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463040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E596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1488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8D8"/>
                </a:solidFill>
                <a:latin typeface="Calibri"/>
              </a:rPr>
              <a:t>Missing
Values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1325880"/>
            <a:ext cx="2606040" cy="146304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5360" y="1325880"/>
            <a:ext cx="260604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1463040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E596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1488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8D8"/>
                </a:solidFill>
                <a:latin typeface="Calibri"/>
              </a:rPr>
              <a:t>Duplicate
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29718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FEATURE OVERVIEW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246120"/>
            <a:ext cx="5806440" cy="274320"/>
          </a:xfrm>
          <a:prstGeom prst="rect">
            <a:avLst/>
          </a:prstGeom>
          <a:solidFill>
            <a:srgbClr val="00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27355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327355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327355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246120"/>
            <a:ext cx="5806440" cy="274320"/>
          </a:xfrm>
          <a:prstGeom prst="rect">
            <a:avLst/>
          </a:prstGeom>
          <a:solidFill>
            <a:srgbClr val="00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27355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327355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27355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310128"/>
            <a:ext cx="5806440" cy="5486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33467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F4FF"/>
                </a:solidFill>
                <a:latin typeface="Calibri"/>
              </a:rPr>
              <a:t>record_id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9" y="33467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B1"/>
                </a:solidFill>
                <a:latin typeface="Calibri"/>
              </a:rPr>
              <a:t>Integer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3602736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D8"/>
                </a:solidFill>
                <a:latin typeface="Calibri"/>
              </a:rPr>
              <a:t>Session identifier (excluded from model)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913632"/>
            <a:ext cx="5806440" cy="548640"/>
          </a:xfrm>
          <a:prstGeom prst="rect">
            <a:avLst/>
          </a:prstGeom>
          <a:solidFill>
            <a:srgbClr val="0F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9502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F4FF"/>
                </a:solidFill>
                <a:latin typeface="Calibri"/>
              </a:rPr>
              <a:t>date_time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19" y="39502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B1"/>
                </a:solidFill>
                <a:latin typeface="Calibri"/>
              </a:rPr>
              <a:t>DateTime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4206240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D8"/>
                </a:solidFill>
                <a:latin typeface="Calibri"/>
              </a:rPr>
              <a:t>Timestamp → hour_of_day, day_of_week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4517136"/>
            <a:ext cx="5806440" cy="5486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553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F4FF"/>
                </a:solidFill>
                <a:latin typeface="Calibri"/>
              </a:rPr>
              <a:t>city_zone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19" y="45537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B1"/>
                </a:solidFill>
                <a:latin typeface="Calibri"/>
              </a:rPr>
              <a:t>Categorical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4809744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D8"/>
                </a:solidFill>
                <a:latin typeface="Calibri"/>
              </a:rPr>
              <a:t>North / South / East / West / Central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5120640"/>
            <a:ext cx="5806440" cy="548640"/>
          </a:xfrm>
          <a:prstGeom prst="rect">
            <a:avLst/>
          </a:prstGeom>
          <a:solidFill>
            <a:srgbClr val="0F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51572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F4FF"/>
                </a:solidFill>
                <a:latin typeface="Calibri"/>
              </a:rPr>
              <a:t>station_type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19" y="51572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B1"/>
                </a:solidFill>
                <a:latin typeface="Calibri"/>
              </a:rPr>
              <a:t>Categorical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54132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D8"/>
                </a:solidFill>
                <a:latin typeface="Calibri"/>
              </a:rPr>
              <a:t>Fast / Slow / Ultra-fast / Normal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5724144"/>
            <a:ext cx="5806440" cy="5486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5760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F4FF"/>
                </a:solidFill>
                <a:latin typeface="Calibri"/>
              </a:rPr>
              <a:t>vehicles_charged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19" y="57607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B1"/>
                </a:solidFill>
                <a:latin typeface="Calibri"/>
              </a:rPr>
              <a:t>Integer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" y="6016752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D8"/>
                </a:solidFill>
                <a:latin typeface="Calibri"/>
              </a:rPr>
              <a:t>No. of EVs per session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3310128"/>
            <a:ext cx="5806440" cy="5486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63640" y="33467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F4FF"/>
                </a:solidFill>
                <a:latin typeface="Calibri"/>
              </a:rPr>
              <a:t>avg_charging_duration_min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19" y="33467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B1"/>
                </a:solidFill>
                <a:latin typeface="Calibri"/>
              </a:rPr>
              <a:t>Float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602736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D8"/>
                </a:solidFill>
                <a:latin typeface="Calibri"/>
              </a:rPr>
              <a:t>Mean session duration (minutes)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3913632"/>
            <a:ext cx="5806440" cy="548640"/>
          </a:xfrm>
          <a:prstGeom prst="rect">
            <a:avLst/>
          </a:prstGeom>
          <a:solidFill>
            <a:srgbClr val="0F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63640" y="39502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F4FF"/>
                </a:solidFill>
                <a:latin typeface="Calibri"/>
              </a:rPr>
              <a:t>energy_dispensed_kwh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19" y="39502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B1"/>
                </a:solidFill>
                <a:latin typeface="Calibri"/>
              </a:rPr>
              <a:t>Float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206240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D8"/>
                </a:solidFill>
                <a:latin typeface="Calibri"/>
              </a:rPr>
              <a:t>Total energy delivered (kWh)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4517136"/>
            <a:ext cx="5806440" cy="5486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63640" y="4553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F4FF"/>
                </a:solidFill>
                <a:latin typeface="Calibri"/>
              </a:rPr>
              <a:t>grid_load_mw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9" y="45537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B1"/>
                </a:solidFill>
                <a:latin typeface="Calibri"/>
              </a:rPr>
              <a:t>Float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809744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D8"/>
                </a:solidFill>
                <a:latin typeface="Calibri"/>
              </a:rPr>
              <a:t>Grid draw during session (MW)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2200" y="5120640"/>
            <a:ext cx="5806440" cy="548640"/>
          </a:xfrm>
          <a:prstGeom prst="rect">
            <a:avLst/>
          </a:prstGeom>
          <a:solidFill>
            <a:srgbClr val="0F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63640" y="51572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F4FF"/>
                </a:solidFill>
                <a:latin typeface="Calibri"/>
              </a:rPr>
              <a:t>renewable_energy_percent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46719" y="51572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B1"/>
                </a:solidFill>
                <a:latin typeface="Calibri"/>
              </a:rPr>
              <a:t>Float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54132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D8"/>
                </a:solidFill>
                <a:latin typeface="Calibri"/>
              </a:rPr>
              <a:t>% renewable energy used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72200" y="5724144"/>
            <a:ext cx="5806440" cy="5486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63640" y="5760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F4FF"/>
                </a:solidFill>
                <a:latin typeface="Calibri"/>
              </a:rPr>
              <a:t>peak_load_risk  ★ TARGET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19" y="57607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B1"/>
                </a:solidFill>
                <a:latin typeface="Calibri"/>
              </a:rPr>
              <a:t>Categorical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6016752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D8"/>
                </a:solidFill>
                <a:latin typeface="Calibri"/>
              </a:rPr>
              <a:t>Low / Medium / High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B8D8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1463040" cy="256032"/>
          </a:xfrm>
          <a:prstGeom prst="roundRect">
            <a:avLst>
              <a:gd name="adj" fmla="val 40000"/>
            </a:avLst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08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02 ·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120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8-Step Preprocessing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52144"/>
            <a:ext cx="11704320" cy="1905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234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8B8D8"/>
                </a:solidFill>
                <a:latin typeface="Calibri"/>
              </a:rPr>
              <a:t>Input: Raw CSV (2,800 × 10)  →  Output: Analysis-Ready Matrix (2,800 × 15)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-4572" y="1719072"/>
            <a:ext cx="1380744" cy="329184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-4572" y="1719072"/>
            <a:ext cx="1380744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" y="185623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" y="187452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" y="2432304"/>
            <a:ext cx="12710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Null
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" y="3163824"/>
            <a:ext cx="12710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B8D8"/>
                </a:solidFill>
                <a:latin typeface="Calibri"/>
              </a:rPr>
              <a:t>Confirmed 0
missing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4460" y="299923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BFF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40764" y="1719072"/>
            <a:ext cx="1380744" cy="329184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40764" y="1719072"/>
            <a:ext cx="1380744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79676" y="185623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79676" y="187452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5628" y="2432304"/>
            <a:ext cx="12710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Duplicate
Removal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5628" y="3163824"/>
            <a:ext cx="12710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B8D8"/>
                </a:solidFill>
                <a:latin typeface="Calibri"/>
              </a:rPr>
              <a:t>0 duplicates
found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9796" y="299923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BFF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86100" y="1719072"/>
            <a:ext cx="1380744" cy="329184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86100" y="1719072"/>
            <a:ext cx="1380744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25012" y="185623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5012" y="187452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0964" y="2432304"/>
            <a:ext cx="12710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Datetime
Parsing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0964" y="3163824"/>
            <a:ext cx="12710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B8D8"/>
                </a:solidFill>
                <a:latin typeface="Calibri"/>
              </a:rPr>
              <a:t>Extracted temporal
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5132" y="299923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BFF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31436" y="1719072"/>
            <a:ext cx="1380744" cy="329184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31436" y="1719072"/>
            <a:ext cx="1380744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70348" y="185623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0348" y="187452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6300" y="2432304"/>
            <a:ext cx="12710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Feature
Engineering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6300" y="3163824"/>
            <a:ext cx="12710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B8D8"/>
                </a:solidFill>
                <a:latin typeface="Calibri"/>
              </a:rPr>
              <a:t>hour_of_day
day_of_week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0468" y="299923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BFF"/>
                </a:solidFill>
                <a:latin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6772" y="1719072"/>
            <a:ext cx="1380744" cy="329184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6772" y="1719072"/>
            <a:ext cx="1380744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15684" y="185623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15684" y="187452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1636" y="2432304"/>
            <a:ext cx="12710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One-Hot
Encoding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1636" y="3163824"/>
            <a:ext cx="12710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B8D8"/>
                </a:solidFill>
                <a:latin typeface="Calibri"/>
              </a:rPr>
              <a:t>station_type,
city_zone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75804" y="299923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BFF"/>
                </a:solidFill>
                <a:latin typeface="Calibri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22108" y="1719072"/>
            <a:ext cx="1380744" cy="329184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22108" y="1719072"/>
            <a:ext cx="1380744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61020" y="185623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61020" y="187452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6972" y="2432304"/>
            <a:ext cx="12710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Target
Mapping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6972" y="3163824"/>
            <a:ext cx="12710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B8D8"/>
                </a:solidFill>
                <a:latin typeface="Calibri"/>
              </a:rPr>
              <a:t>Low→0, Med→1
High→2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21140" y="299923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BFF"/>
                </a:solidFill>
                <a:latin typeface="Calibri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67444" y="1719072"/>
            <a:ext cx="1380744" cy="329184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67444" y="1719072"/>
            <a:ext cx="1380744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706356" y="185623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06356" y="187452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2308" y="2432304"/>
            <a:ext cx="12710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StandardScaler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2308" y="3163824"/>
            <a:ext cx="12710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B8D8"/>
                </a:solidFill>
                <a:latin typeface="Calibri"/>
              </a:rPr>
              <a:t>Z-score normalize
5 features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66476" y="299923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BFF"/>
                </a:solidFill>
                <a:latin typeface="Calibri"/>
              </a:rPr>
              <a:t>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812780" y="1719072"/>
            <a:ext cx="1380744" cy="329184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812780" y="1719072"/>
            <a:ext cx="1380744" cy="548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1251692" y="185623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251692" y="187452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67644" y="2432304"/>
            <a:ext cx="12710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Drop
record_id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67644" y="3163824"/>
            <a:ext cx="12710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B8D8"/>
                </a:solidFill>
                <a:latin typeface="Calibri"/>
              </a:rPr>
              <a:t>Prevent data
leakage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28600" y="5193792"/>
            <a:ext cx="11704320" cy="594360"/>
          </a:xfrm>
          <a:prstGeom prst="roundRect">
            <a:avLst>
              <a:gd name="adj" fmla="val 8000"/>
            </a:avLst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25780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✓  Final Dataset:  2,800 rows × 15 features  |  record_id excluded  |  Target: peak_load_risk (ordinal)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B8D8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1463040" cy="256032"/>
          </a:xfrm>
          <a:prstGeom prst="roundRect">
            <a:avLst>
              <a:gd name="adj" fmla="val 40000"/>
            </a:avLst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08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03 · SIMILARITY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12064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Correlation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52144"/>
            <a:ext cx="11704320" cy="1905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234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8B8D8"/>
                </a:solidFill>
                <a:latin typeface="Calibri"/>
              </a:rPr>
              <a:t>Pearson Correlation Heatmap — Numerical Features</a:t>
            </a:r>
          </a:p>
        </p:txBody>
      </p:sp>
      <p:pic>
        <p:nvPicPr>
          <p:cNvPr id="8" name="Picture 7" descr="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00200"/>
            <a:ext cx="6949440" cy="61459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43800" y="1234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KEY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627632"/>
            <a:ext cx="4434840" cy="109728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1627632"/>
            <a:ext cx="54864" cy="10972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17190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Near-Zero Correlations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066544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All Pearson coefficients fall close to 0 — features are largely independent.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862072"/>
            <a:ext cx="4434840" cy="109728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2862072"/>
            <a:ext cx="54864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29535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Non-Linear Risk Drivers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300984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Weak linear correlations suggest peak load risk emerges from complex, non-linear interactions.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096512"/>
            <a:ext cx="4434840" cy="109728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43800" y="4096512"/>
            <a:ext cx="54864" cy="109728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8" y="41879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Ensemble Justified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4535424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Absence of dominant predictors supports the use of Random Forest over linear models.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5330952"/>
            <a:ext cx="4434840" cy="109728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43800" y="5330952"/>
            <a:ext cx="54864" cy="109728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542239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Feature Set Limitation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5769864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Limited predictive power indicates external features (weather, pricing) are needed.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B8D8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1463040" cy="256032"/>
          </a:xfrm>
          <a:prstGeom prst="roundRect">
            <a:avLst>
              <a:gd name="adj" fmla="val 40000"/>
            </a:avLst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08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03 · DISSIMILARITY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12064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Euclidean Distance Across City Zones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52144"/>
            <a:ext cx="11704320" cy="1905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uclid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25880"/>
            <a:ext cx="7132320" cy="6048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344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ZONE SIMILARITY MATRIX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600200"/>
            <a:ext cx="4251960" cy="1325880"/>
          </a:xfrm>
          <a:prstGeom prst="roundRect">
            <a:avLst>
              <a:gd name="adj" fmla="val 10000"/>
            </a:avLst>
          </a:prstGeom>
          <a:solidFill>
            <a:srgbClr val="00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600200"/>
            <a:ext cx="54864" cy="13258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166420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596"/>
                </a:solidFill>
                <a:latin typeface="Calibri"/>
              </a:rPr>
              <a:t>MOST SIMILAR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7" y="190195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South  ↔  West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234086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Distance ≈ 0.85  |  Comparable load profiles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063240"/>
            <a:ext cx="4251960" cy="1325880"/>
          </a:xfrm>
          <a:prstGeom prst="roundRect">
            <a:avLst>
              <a:gd name="adj" fmla="val 10000"/>
            </a:avLst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3063240"/>
            <a:ext cx="54864" cy="132588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12724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4D6D"/>
                </a:solidFill>
                <a:latin typeface="Calibri"/>
              </a:rPr>
              <a:t>MOST DISSIMILAR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36499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East  ↔  South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380390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Distance ≈ 3.64  |  Fundamentally different behaviour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4526280"/>
            <a:ext cx="4251960" cy="118872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2127" y="45902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107"/>
                </a:solidFill>
                <a:latin typeface="Calibri"/>
              </a:rPr>
              <a:t>💡  POLICY IMPLICATION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4864608"/>
            <a:ext cx="3931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F"/>
                </a:solidFill>
                <a:latin typeface="Calibri"/>
              </a:rPr>
              <a:t>South-West strategies can be shared.
East zone requires a distinct, tailored grid plan.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B8D8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1463040" cy="256032"/>
          </a:xfrm>
          <a:prstGeom prst="roundRect">
            <a:avLst>
              <a:gd name="adj" fmla="val 40000"/>
            </a:avLst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08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04 ·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120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Random Forest Classifier —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52144"/>
            <a:ext cx="11704320" cy="1905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325880"/>
            <a:ext cx="3200400" cy="2011680"/>
          </a:xfrm>
          <a:prstGeom prst="roundRect">
            <a:avLst>
              <a:gd name="adj" fmla="val 12000"/>
            </a:avLst>
          </a:prstGeom>
          <a:solidFill>
            <a:srgbClr val="002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325880"/>
            <a:ext cx="3200400" cy="640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4475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  <a:latin typeface="Calibri"/>
              </a:rPr>
              <a:t>OVERALL
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01952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45.18%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249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8B8D8"/>
                </a:solidFill>
                <a:latin typeface="Calibri"/>
              </a:rPr>
              <a:t>with SMOTE rebalancing</a:t>
            </a:r>
          </a:p>
        </p:txBody>
      </p:sp>
      <p:pic>
        <p:nvPicPr>
          <p:cNvPr id="12" name="Picture 11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456432"/>
            <a:ext cx="3291840" cy="284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8600" y="6400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8B8D8"/>
                </a:solidFill>
                <a:latin typeface="Calibri"/>
              </a:rPr>
              <a:t>Confusion Matrix — Random Forest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1325880"/>
            <a:ext cx="2057400" cy="150876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39" y="1325880"/>
            <a:ext cx="205740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7" y="1435608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96"/>
                </a:solidFill>
                <a:latin typeface="Calibri"/>
              </a:rPr>
              <a:t>Low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79" y="1764792"/>
            <a:ext cx="1874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F1 = 0.58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7" y="2441448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D8"/>
                </a:solidFill>
                <a:latin typeface="Calibri"/>
              </a:rPr>
              <a:t>P: 0.55  R: 0.62  N=281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71031" y="1325880"/>
            <a:ext cx="2057400" cy="150876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71031" y="1325880"/>
            <a:ext cx="205740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59" y="1435608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42"/>
                </a:solidFill>
                <a:latin typeface="Calibri"/>
              </a:rPr>
              <a:t>Medium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1" y="1764792"/>
            <a:ext cx="1874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F1 = 0.33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2441448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D8"/>
                </a:solidFill>
                <a:latin typeface="Calibri"/>
              </a:rPr>
              <a:t>P: 0.34  R: 0.33  N=166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3023" y="1325880"/>
            <a:ext cx="2057400" cy="150876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3023" y="1325880"/>
            <a:ext cx="2057400" cy="548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1" y="1435608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6D"/>
                </a:solidFill>
                <a:latin typeface="Calibri"/>
              </a:rPr>
              <a:t>High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3" y="1764792"/>
            <a:ext cx="1874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F1 = 0.25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1" y="2441448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D8"/>
                </a:solidFill>
                <a:latin typeface="Calibri"/>
              </a:rPr>
              <a:t>P: 0.30  R: 0.21  N=113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15015" y="1325880"/>
            <a:ext cx="2057400" cy="150876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415015" y="1325880"/>
            <a:ext cx="2057400" cy="54864"/>
          </a:xfrm>
          <a:prstGeom prst="rect">
            <a:avLst/>
          </a:prstGeom>
          <a:solidFill>
            <a:srgbClr val="A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24743" y="1435608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8B8D8"/>
                </a:solidFill>
                <a:latin typeface="Calibri"/>
              </a:rPr>
              <a:t>Weighted Avg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06455" y="1764792"/>
            <a:ext cx="1874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F1 = 0.44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24743" y="2441448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D8"/>
                </a:solidFill>
                <a:latin typeface="Calibri"/>
              </a:rPr>
              <a:t>P: 0.43  R: 0.45  N=560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30175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METHODOLOGY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49039" y="3364992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58767" y="343814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BFF"/>
                </a:solidFill>
                <a:latin typeface="Calibri"/>
              </a:rPr>
              <a:t>80/20 Split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8767" y="373075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B8D8"/>
                </a:solidFill>
                <a:latin typeface="Calibri"/>
              </a:rPr>
              <a:t>Stratified train/test split preserving class proportions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9559" y="3364992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9287" y="343814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BFF"/>
                </a:solidFill>
                <a:latin typeface="Calibri"/>
              </a:rPr>
              <a:t>SMOTE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9287" y="373075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B8D8"/>
                </a:solidFill>
                <a:latin typeface="Calibri"/>
              </a:rPr>
              <a:t>Synthetic Minority Over-sampling on training set only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49039" y="4315968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58767" y="43891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BFF"/>
                </a:solidFill>
                <a:latin typeface="Calibri"/>
              </a:rPr>
              <a:t>100 Trees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58767" y="468172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B8D8"/>
                </a:solidFill>
                <a:latin typeface="Calibri"/>
              </a:rPr>
              <a:t>RandomForestClassifier — n_estimators=100, default params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09559" y="4315968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19287" y="43891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BFF"/>
                </a:solidFill>
                <a:latin typeface="Calibri"/>
              </a:rPr>
              <a:t>3-Class Target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9287" y="468172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B8D8"/>
                </a:solidFill>
                <a:latin typeface="Calibri"/>
              </a:rPr>
              <a:t>Low (0) · Medium (1) · High (2) — ordinal risk levels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39" y="523036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INTERPRETATION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39" y="553212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F"/>
                </a:solidFill>
                <a:latin typeface="Calibri"/>
              </a:rPr>
              <a:t>Moderate accuracy reflects inherent complexity of 3-class risk prediction with weak linear feature separability. High-risk miss-rate (F1 = 0.25) is the critical operational gap — SMOTE improved minority class recall but non-linear boundaries limit achievable accuracy.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B8D8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1463040" cy="256032"/>
          </a:xfrm>
          <a:prstGeom prst="roundRect">
            <a:avLst>
              <a:gd name="adj" fmla="val 40000"/>
            </a:avLst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08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05 · FEATURE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120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Drives Peak Load Risk?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52144"/>
            <a:ext cx="11704320" cy="1905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eature_i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98448"/>
            <a:ext cx="7772400" cy="51582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12984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KEY TAKEAWAYS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645920"/>
            <a:ext cx="3657600" cy="1115568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1645920"/>
            <a:ext cx="54864" cy="111556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173736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#1  Energy Dispensed (kWh)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210312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B8D8"/>
                </a:solidFill>
                <a:latin typeface="Calibri"/>
              </a:rPr>
              <a:t>Strongest predictor — total energy per session directly correlates with grid stress.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907792"/>
            <a:ext cx="3657600" cy="1115568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2907792"/>
            <a:ext cx="54864" cy="11155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299923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#2  Grid Load (MW)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336499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B8D8"/>
                </a:solidFill>
                <a:latin typeface="Calibri"/>
              </a:rPr>
              <a:t>Direct measure of instantaneous grid draw — naturally linked to risk level.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4169664"/>
            <a:ext cx="3657600" cy="1115568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4169664"/>
            <a:ext cx="54864" cy="111556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4261104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#3  Renewable Energy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4626864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B8D8"/>
                </a:solidFill>
                <a:latin typeface="Calibri"/>
              </a:rPr>
              <a:t>Moderates grid stress — higher renewable share reduces peak risk contribution.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5431536"/>
            <a:ext cx="3657600" cy="1115568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5431536"/>
            <a:ext cx="54864" cy="111556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552297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#4  No Single Dominant Feature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5888736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B8D8"/>
                </a:solidFill>
                <a:latin typeface="Calibri"/>
              </a:rPr>
              <a:t>Uniform distribution of scores confirms multifactorial risk — ensemble model is the right choice.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B8D8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1463040" cy="256032"/>
          </a:xfrm>
          <a:prstGeom prst="roundRect">
            <a:avLst>
              <a:gd name="adj" fmla="val 40000"/>
            </a:avLst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08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06 · CLASS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120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Target Variable: Peak Load Risk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52144"/>
            <a:ext cx="11704320" cy="1905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25880"/>
            <a:ext cx="7406640" cy="3245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09560" y="132588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CLASS BREAKDOWN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719072"/>
            <a:ext cx="4069080" cy="141732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09560" y="1719072"/>
            <a:ext cx="54864" cy="14173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1810512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96"/>
                </a:solidFill>
                <a:latin typeface="Calibri"/>
              </a:rPr>
              <a:t>50.1%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24505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Low Risk  (1,404 records)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77063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D8"/>
                </a:solidFill>
                <a:latin typeface="Calibri"/>
              </a:rPr>
              <a:t>Majority class · Most reliably classified (F1=0.58)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291840"/>
            <a:ext cx="4069080" cy="141732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3291840"/>
            <a:ext cx="54864" cy="14173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338328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8C42"/>
                </a:solidFill>
                <a:latin typeface="Calibri"/>
              </a:rPr>
              <a:t>29.6%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40233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Medium Risk  (830 records)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434340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D8"/>
                </a:solidFill>
                <a:latin typeface="Calibri"/>
              </a:rPr>
              <a:t>Transitional class · Hardest to classify (F1=0.33)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4864608"/>
            <a:ext cx="4069080" cy="141732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4864608"/>
            <a:ext cx="54864" cy="14173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8" y="4956048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4D6D"/>
                </a:solidFill>
                <a:latin typeface="Calibri"/>
              </a:rPr>
              <a:t>20.2%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559612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High Risk  (566 records)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591616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D8"/>
                </a:solidFill>
                <a:latin typeface="Calibri"/>
              </a:rPr>
              <a:t>Minority class · Operationally critical (F1=0.25)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6437376"/>
            <a:ext cx="4069080" cy="292608"/>
          </a:xfrm>
          <a:prstGeom prst="roundRect">
            <a:avLst>
              <a:gd name="adj" fmla="val 8000"/>
            </a:avLst>
          </a:prstGeom>
          <a:solidFill>
            <a:srgbClr val="1A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6464808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E596"/>
                </a:solidFill>
                <a:latin typeface="Calibri"/>
              </a:rPr>
              <a:t>→  SMOTE applied on training set to address imbalance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B8D8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1463040" cy="256032"/>
          </a:xfrm>
          <a:prstGeom prst="roundRect">
            <a:avLst>
              <a:gd name="adj" fmla="val 40000"/>
            </a:avLst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08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07 ·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120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K-Means Clustering — 3 Operational Profiles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52144"/>
            <a:ext cx="11704320" cy="1905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8B8D8"/>
                </a:solidFill>
                <a:latin typeface="Calibri"/>
              </a:rPr>
              <a:t>Algorithm: K-Means  |  k = 3  |  Features: energy_dispensed_kwh × grid_load_mw (scaled)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645920"/>
            <a:ext cx="3657600" cy="192024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645920"/>
            <a:ext cx="3657600" cy="64008"/>
          </a:xfrm>
          <a:prstGeom prst="rect">
            <a:avLst/>
          </a:prstGeom>
          <a:solidFill>
            <a:srgbClr val="260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755648"/>
            <a:ext cx="3328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6008F"/>
                </a:solidFill>
                <a:latin typeface="Calibri"/>
              </a:rPr>
              <a:t>Cluster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029968"/>
            <a:ext cx="33284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Residential
Overnight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633472"/>
            <a:ext cx="33284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Low energy · Low grid load
Slow chargers · Extended duration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" y="3218688"/>
            <a:ext cx="3328416" cy="256032"/>
          </a:xfrm>
          <a:prstGeom prst="roundRect">
            <a:avLst>
              <a:gd name="adj" fmla="val 15000"/>
            </a:avLst>
          </a:prstGeom>
          <a:solidFill>
            <a:srgbClr val="260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3236976"/>
            <a:ext cx="3255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⬇ Minimal grid impact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50792" y="1645920"/>
            <a:ext cx="3657600" cy="192024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50792" y="1645920"/>
            <a:ext cx="365760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5384" y="1755648"/>
            <a:ext cx="3328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Cluster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5384" y="2029968"/>
            <a:ext cx="33284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Urban
Fast Charger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5384" y="2633472"/>
            <a:ext cx="33284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Moderate energy · Moderate load
Mix of commuter &amp; commercial users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15384" y="3218688"/>
            <a:ext cx="3328416" cy="256032"/>
          </a:xfrm>
          <a:prstGeom prst="roundRect">
            <a:avLst>
              <a:gd name="adj" fmla="val 15000"/>
            </a:avLst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3236976"/>
            <a:ext cx="3255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↔ Standard grid operations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72984" y="1645920"/>
            <a:ext cx="3657600" cy="192024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72984" y="1645920"/>
            <a:ext cx="3657600" cy="6400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37576" y="1755648"/>
            <a:ext cx="3328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BFF"/>
                </a:solidFill>
                <a:latin typeface="Calibri"/>
              </a:rPr>
              <a:t>Cluster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7576" y="2029968"/>
            <a:ext cx="33284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Commercial
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7576" y="2633472"/>
            <a:ext cx="33284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High energy · High grid load
Ultra-fast / multi-vehicle events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37576" y="3218688"/>
            <a:ext cx="3328416" cy="256032"/>
          </a:xfrm>
          <a:prstGeom prst="roundRect">
            <a:avLst>
              <a:gd name="adj" fmla="val 15000"/>
            </a:avLst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74152" y="3236976"/>
            <a:ext cx="3255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⬆ Highest grid stress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" y="3749039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8B8D8"/>
                </a:solidFill>
                <a:latin typeface="Calibri"/>
              </a:rPr>
              <a:t>Cluster Scatter Plot (from Final Dashboard — Panel 2)</a:t>
            </a:r>
          </a:p>
        </p:txBody>
      </p:sp>
      <p:pic>
        <p:nvPicPr>
          <p:cNvPr id="30" name="Picture 29" descr="fina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041648"/>
            <a:ext cx="11704320" cy="246888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228600" y="6473952"/>
            <a:ext cx="11704320" cy="274320"/>
          </a:xfrm>
          <a:prstGeom prst="roundRect">
            <a:avLst>
              <a:gd name="adj" fmla="val 6000"/>
            </a:avLst>
          </a:prstGeom>
          <a:solidFill>
            <a:srgbClr val="00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492240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💡  Cluster-specific grid policies outperform uniform limits — tailor demand-response triggers to each operational archetype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B8D8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1463040" cy="256032"/>
          </a:xfrm>
          <a:prstGeom prst="roundRect">
            <a:avLst>
              <a:gd name="adj" fmla="val 40000"/>
            </a:avLst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08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08 · ANOMALY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120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Isolation Forest — Anomaly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52144"/>
            <a:ext cx="11704320" cy="1905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325880"/>
            <a:ext cx="3108960" cy="2286000"/>
          </a:xfrm>
          <a:prstGeom prst="roundRect">
            <a:avLst>
              <a:gd name="adj" fmla="val 12000"/>
            </a:avLst>
          </a:prstGeom>
          <a:solidFill>
            <a:srgbClr val="35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325880"/>
            <a:ext cx="3108960" cy="6400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6D"/>
                </a:solidFill>
                <a:latin typeface="Calibri"/>
              </a:rPr>
              <a:t>⚠  ANOMALIES
FLAGGED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5292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B8D8"/>
                </a:solidFill>
                <a:latin typeface="Calibri"/>
              </a:rPr>
              <a:t>out of 2,800 sessions
3% contamination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379476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385876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B8D8"/>
                </a:solidFill>
                <a:latin typeface="Calibri"/>
              </a:rPr>
              <a:t>2,716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427939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D8"/>
                </a:solidFill>
                <a:latin typeface="Calibri"/>
              </a:rPr>
              <a:t>Normal
Sessions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379476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35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47672" y="385876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4D6D"/>
                </a:solidFill>
                <a:latin typeface="Calibri"/>
              </a:rPr>
              <a:t>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7672" y="427939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4D6D"/>
                </a:solidFill>
                <a:latin typeface="Calibri"/>
              </a:rPr>
              <a:t>Anomalous
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123444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8B8D8"/>
                </a:solidFill>
                <a:latin typeface="Calibri"/>
              </a:rPr>
              <a:t>Anomaly Overlay (from Dashboard — Panel 3: Red = Anomalies)</a:t>
            </a:r>
          </a:p>
        </p:txBody>
      </p:sp>
      <p:pic>
        <p:nvPicPr>
          <p:cNvPr id="19" name="Picture 18" descr="fina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536192"/>
            <a:ext cx="8458200" cy="35204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860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POTENTIAL CAUSES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5303520"/>
            <a:ext cx="54864" cy="2743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526694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F4FF"/>
                </a:solidFill>
                <a:latin typeface="Calibri"/>
              </a:rPr>
              <a:t>Hardware malfunction — erroneous power draw at specific stations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806440"/>
            <a:ext cx="54864" cy="2743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576986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F4FF"/>
                </a:solidFill>
                <a:latin typeface="Calibri"/>
              </a:rPr>
              <a:t>Grid baseline stress — simultaneous large-scale charging events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6309360"/>
            <a:ext cx="54864" cy="2743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627278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F4FF"/>
                </a:solidFill>
                <a:latin typeface="Calibri"/>
              </a:rPr>
              <a:t>Sensor faults — data recording anomalies at station level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5166360"/>
            <a:ext cx="8458200" cy="1536192"/>
          </a:xfrm>
          <a:prstGeom prst="roundRect">
            <a:avLst>
              <a:gd name="adj" fmla="val 10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20440" y="5166360"/>
            <a:ext cx="8458200" cy="6400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526694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6D"/>
                </a:solidFill>
                <a:latin typeface="Calibri"/>
              </a:rPr>
              <a:t>OPERATIONAL RESPONSE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5596128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F"/>
                </a:solidFill>
                <a:latin typeface="Calibri"/>
              </a:rPr>
              <a:t>→  Investigate flagged station records for hardware faults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5943600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F"/>
                </a:solidFill>
                <a:latin typeface="Calibri"/>
              </a:rPr>
              <a:t>→  Pre-position emergency battery buffer reserves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6291072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F"/>
                </a:solidFill>
                <a:latin typeface="Calibri"/>
              </a:rPr>
              <a:t>→  Implement real-time circuit breaker protocols for similar future events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B8D8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1463040" cy="256032"/>
          </a:xfrm>
          <a:prstGeom prst="roundRect">
            <a:avLst>
              <a:gd name="adj" fmla="val 40000"/>
            </a:avLst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08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09 ·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120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Three-Panel Executive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115568"/>
            <a:ext cx="3858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42"/>
                </a:solidFill>
                <a:latin typeface="Calibri"/>
              </a:rPr>
              <a:t>Panel 1: Temporal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8808" y="1115568"/>
            <a:ext cx="3858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Panel 2: K-Means Clusters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9016" y="1115568"/>
            <a:ext cx="3858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6D"/>
                </a:solidFill>
                <a:latin typeface="Calibri"/>
              </a:rPr>
              <a:t>Panel 3: Anomaly Detection</a:t>
            </a:r>
          </a:p>
        </p:txBody>
      </p:sp>
      <p:pic>
        <p:nvPicPr>
          <p:cNvPr id="9" name="Picture 8" descr="fina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417320"/>
            <a:ext cx="11887200" cy="4251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28600" y="5742432"/>
            <a:ext cx="3858768" cy="566928"/>
          </a:xfrm>
          <a:prstGeom prst="roundRect">
            <a:avLst>
              <a:gd name="adj" fmla="val 8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5742432"/>
            <a:ext cx="3858768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5833872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F"/>
                </a:solidFill>
                <a:latin typeface="Calibri"/>
              </a:rPr>
              <a:t>Hourly grid load volatility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78808" y="5742432"/>
            <a:ext cx="3858768" cy="566928"/>
          </a:xfrm>
          <a:prstGeom prst="roundRect">
            <a:avLst>
              <a:gd name="adj" fmla="val 8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78808" y="5742432"/>
            <a:ext cx="3858768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5833872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F"/>
                </a:solidFill>
                <a:latin typeface="Calibri"/>
              </a:rPr>
              <a:t>Operational zone segmentation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5742432"/>
            <a:ext cx="3858768" cy="566928"/>
          </a:xfrm>
          <a:prstGeom prst="roundRect">
            <a:avLst>
              <a:gd name="adj" fmla="val 8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9016" y="5742432"/>
            <a:ext cx="3858768" cy="548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5833872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F"/>
                </a:solidFill>
                <a:latin typeface="Calibri"/>
              </a:rPr>
              <a:t>84 flagged events in 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B8D8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1463040" cy="256032"/>
          </a:xfrm>
          <a:prstGeom prst="roundRect">
            <a:avLst>
              <a:gd name="adj" fmla="val 40000"/>
            </a:avLst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08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10 ·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120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Findings &amp;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52144"/>
            <a:ext cx="11704320" cy="1905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353312"/>
            <a:ext cx="3840480" cy="1920240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353312"/>
            <a:ext cx="384048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5179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361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517904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Clean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35661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2,800 records · 10 attributes · 0 missing values · 0 duplicates — no imputation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353312"/>
            <a:ext cx="3840480" cy="1920240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353312"/>
            <a:ext cx="3840480" cy="6400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15179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5361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517904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Weak Feature Correlations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011680"/>
            <a:ext cx="35661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Pearson near-zero → non-linear risk drivers · Zone dissimilarity supports zone-specific grid 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353312"/>
            <a:ext cx="3840480" cy="1920240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353312"/>
            <a:ext cx="3840480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15179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5361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517904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RF Accuracy: 45.18%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011680"/>
            <a:ext cx="35661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Moderate but informative · SMOTE improved minority recall · High-risk F1=0.25 is the critical gap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3438143"/>
            <a:ext cx="3840480" cy="1920240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3438143"/>
            <a:ext cx="3840480" cy="640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5760" y="3602735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621023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602735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Multifactorial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096511"/>
            <a:ext cx="35661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energy_kwh, grid_load_mw, renewable_% are top 3 predictors · No single dominant feature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3438143"/>
            <a:ext cx="3840480" cy="1920240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3438143"/>
            <a:ext cx="384048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97680" y="3602735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3621023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602735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3 Operational Clusters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096511"/>
            <a:ext cx="35661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K-Means: Residential · Urban Fast · Commercial Hub → cluster-specific demand-response policies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438143"/>
            <a:ext cx="3840480" cy="1920240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2440" y="3438143"/>
            <a:ext cx="3840480" cy="6400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29600" y="3602735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3621023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602735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84 Anomalous Events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096511"/>
            <a:ext cx="35661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Isolation Forest (3% contamination) · Black-swan grid stress moments requiring investigation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B8D8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1463040" cy="256032"/>
          </a:xfrm>
          <a:prstGeom prst="roundRect">
            <a:avLst>
              <a:gd name="adj" fmla="val 40000"/>
            </a:avLst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08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11 ·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120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Recommendations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52144"/>
            <a:ext cx="11704320" cy="1905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353312"/>
            <a:ext cx="3840480" cy="2240280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353312"/>
            <a:ext cx="3840480" cy="6400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5179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361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517904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External Feature Enrichment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356616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Incorporate ambient temperature, baseline neighbourhood power consumption, and real-time electricity pricing to improve RF accuracy beyond 45%.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353312"/>
            <a:ext cx="3840480" cy="2240280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353312"/>
            <a:ext cx="384048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15179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5361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517904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Advanced Model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011680"/>
            <a:ext cx="356616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Explore Gradient Boosting (XGBoost/LightGBM), Neural Networks, and class-weight tuning as alternatives to SMOTE for imbalance.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353312"/>
            <a:ext cx="3840480" cy="2240280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353312"/>
            <a:ext cx="3840480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15179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5361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517904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Dynamic Time-of-Use Pricing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011680"/>
            <a:ext cx="356616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Grid operators should implement cheaper off-peak rates to flatten the hourly demand curve and reduce infrastructure degradation.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3730752"/>
            <a:ext cx="3840480" cy="2240280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3730752"/>
            <a:ext cx="384048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5760" y="389534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91363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895344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Zone-Specific Forecasting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389120"/>
            <a:ext cx="356616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Build separate predictive models per city zone — especially East zone which is operationally distinct from all others (max distance ≈ 3.64).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3730752"/>
            <a:ext cx="3840480" cy="2240280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3730752"/>
            <a:ext cx="3840480" cy="640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97680" y="389534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391363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895344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Real-Time Anomaly Monitoring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389120"/>
            <a:ext cx="356616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Deploy Isolation Forest as a live streaming pipeline to flag anomalous events in real-time and trigger automated circuit responses.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730752"/>
            <a:ext cx="3840480" cy="2240280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2440" y="3730752"/>
            <a:ext cx="3840480" cy="6400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29600" y="389534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391363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895344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Dataset Expansion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389120"/>
            <a:ext cx="356616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8D8"/>
                </a:solidFill>
                <a:latin typeface="Calibri"/>
              </a:rPr>
              <a:t>Merge with city-wide macroeconomic, weather, and grid telemetry datasets for a more generalisable model beyond synthetic Kaggle data.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B8D8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34088" y="0"/>
            <a:ext cx="54864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063240"/>
            <a:ext cx="6702552" cy="254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9B1"/>
                </a:solidFill>
                <a:latin typeface="Calibri"/>
              </a:rPr>
              <a:t>CE634 · Data Mining and Data Warehousing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8B8D8"/>
                </a:solidFill>
                <a:latin typeface="Calibri"/>
              </a:rPr>
              <a:t>Dewpearl Gonsalves  ·  Shail Joshi  ·  Flyson Dias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434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B8D8"/>
                </a:solidFill>
                <a:latin typeface="Calibri"/>
              </a:rPr>
              <a:t>Padre Conceicao College of Engineering  |  Academic Year 2025–2026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257800"/>
            <a:ext cx="2651760" cy="594360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36752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FF"/>
                </a:solidFill>
                <a:latin typeface="Calibri"/>
              </a:rPr>
              <a:t>2,800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5257800"/>
            <a:ext cx="2651760" cy="594360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536752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42"/>
                </a:solidFill>
                <a:latin typeface="Calibri"/>
              </a:rPr>
              <a:t>45.18% RF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5257800"/>
            <a:ext cx="2651760" cy="594360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536752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6D"/>
                </a:solidFill>
                <a:latin typeface="Calibri"/>
              </a:rPr>
              <a:t>84 Anomalies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5257800"/>
            <a:ext cx="2651760" cy="594360"/>
          </a:xfrm>
          <a:prstGeom prst="roundRect">
            <a:avLst>
              <a:gd name="adj" fmla="val 12000"/>
            </a:avLst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536752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B1"/>
                </a:solidFill>
                <a:latin typeface="Calibri"/>
              </a:rPr>
              <a:t>3 Clusters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1264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8B8D8"/>
                </a:solidFill>
                <a:latin typeface="Calibri"/>
              </a:rPr>
              <a:t>Open for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